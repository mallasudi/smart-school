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tos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tos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tos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tos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tos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tos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tos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tos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to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1D8"/>
          </a:solidFill>
        </a:fill>
      </a:tcStyle>
    </a:wholeTbl>
    <a:band2H>
      <a:tcTxStyle b="def" i="def"/>
      <a:tcStyle>
        <a:tcBdr/>
        <a:fill>
          <a:solidFill>
            <a:srgbClr val="E7E9EC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BD3CB"/>
          </a:solidFill>
        </a:fill>
      </a:tcStyle>
    </a:wholeTbl>
    <a:band2H>
      <a:tcTxStyle b="def" i="def"/>
      <a:tcStyle>
        <a:tcBdr/>
        <a:fill>
          <a:solidFill>
            <a:srgbClr val="E7EAE7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E1CC"/>
          </a:solidFill>
        </a:fill>
      </a:tcStyle>
    </a:wholeTbl>
    <a:band2H>
      <a:tcTxStyle b="def" i="def"/>
      <a:tcStyle>
        <a:tcBdr/>
        <a:fill>
          <a:solidFill>
            <a:srgbClr val="E8F0E7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Shape 94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5" name="Shape 95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Aptos"/>
      </a:defRPr>
    </a:lvl1pPr>
    <a:lvl2pPr indent="228600" latinLnBrk="0">
      <a:defRPr sz="1200">
        <a:latin typeface="+mn-lt"/>
        <a:ea typeface="+mn-ea"/>
        <a:cs typeface="+mn-cs"/>
        <a:sym typeface="Aptos"/>
      </a:defRPr>
    </a:lvl2pPr>
    <a:lvl3pPr indent="457200" latinLnBrk="0">
      <a:defRPr sz="1200">
        <a:latin typeface="+mn-lt"/>
        <a:ea typeface="+mn-ea"/>
        <a:cs typeface="+mn-cs"/>
        <a:sym typeface="Aptos"/>
      </a:defRPr>
    </a:lvl3pPr>
    <a:lvl4pPr indent="685800" latinLnBrk="0">
      <a:defRPr sz="1200">
        <a:latin typeface="+mn-lt"/>
        <a:ea typeface="+mn-ea"/>
        <a:cs typeface="+mn-cs"/>
        <a:sym typeface="Aptos"/>
      </a:defRPr>
    </a:lvl4pPr>
    <a:lvl5pPr indent="914400" latinLnBrk="0">
      <a:defRPr sz="1200">
        <a:latin typeface="+mn-lt"/>
        <a:ea typeface="+mn-ea"/>
        <a:cs typeface="+mn-cs"/>
        <a:sym typeface="Aptos"/>
      </a:defRPr>
    </a:lvl5pPr>
    <a:lvl6pPr indent="1143000" latinLnBrk="0">
      <a:defRPr sz="1200">
        <a:latin typeface="+mn-lt"/>
        <a:ea typeface="+mn-ea"/>
        <a:cs typeface="+mn-cs"/>
        <a:sym typeface="Aptos"/>
      </a:defRPr>
    </a:lvl6pPr>
    <a:lvl7pPr indent="1371600" latinLnBrk="0">
      <a:defRPr sz="1200">
        <a:latin typeface="+mn-lt"/>
        <a:ea typeface="+mn-ea"/>
        <a:cs typeface="+mn-cs"/>
        <a:sym typeface="Aptos"/>
      </a:defRPr>
    </a:lvl7pPr>
    <a:lvl8pPr indent="1600200" latinLnBrk="0">
      <a:defRPr sz="1200">
        <a:latin typeface="+mn-lt"/>
        <a:ea typeface="+mn-ea"/>
        <a:cs typeface="+mn-cs"/>
        <a:sym typeface="Aptos"/>
      </a:defRPr>
    </a:lvl8pPr>
    <a:lvl9pPr indent="1828800" latinLnBrk="0">
      <a:defRPr sz="1200">
        <a:latin typeface="+mn-lt"/>
        <a:ea typeface="+mn-ea"/>
        <a:cs typeface="+mn-cs"/>
        <a:sym typeface="Aptos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0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69458" y="6273360"/>
            <a:ext cx="2210281" cy="439029"/>
          </a:xfrm>
          <a:prstGeom prst="rect">
            <a:avLst/>
          </a:prstGeom>
          <a:ln w="12700">
            <a:miter lim="400000"/>
          </a:ln>
        </p:spPr>
      </p:pic>
      <p:sp>
        <p:nvSpPr>
          <p:cNvPr id="13" name="Title Text"/>
          <p:cNvSpPr txBox="1"/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pPr/>
            <a:r>
              <a:t>Title Text</a:t>
            </a:r>
          </a:p>
        </p:txBody>
      </p:sp>
      <p:sp>
        <p:nvSpPr>
          <p:cNvPr id="14" name="Body Level One…"/>
          <p:cNvSpPr txBox="1"/>
          <p:nvPr>
            <p:ph type="body" sz="quarter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3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Text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pPr/>
            <a:r>
              <a:t>Title Text</a:t>
            </a:r>
          </a:p>
        </p:txBody>
      </p:sp>
      <p:sp>
        <p:nvSpPr>
          <p:cNvPr id="32" name="Body Level One…"/>
          <p:cNvSpPr txBox="1"/>
          <p:nvPr>
            <p:ph type="body" sz="quarter" idx="1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757575"/>
                </a:solidFill>
              </a:defRPr>
            </a:lvl1pPr>
            <a:lvl2pPr marL="0" indent="457200">
              <a:buSzTx/>
              <a:buFontTx/>
              <a:buNone/>
              <a:defRPr sz="2400">
                <a:solidFill>
                  <a:srgbClr val="757575"/>
                </a:solidFill>
              </a:defRPr>
            </a:lvl2pPr>
            <a:lvl3pPr marL="0" indent="914400">
              <a:buSzTx/>
              <a:buFontTx/>
              <a:buNone/>
              <a:defRPr sz="2400">
                <a:solidFill>
                  <a:srgbClr val="757575"/>
                </a:solidFill>
              </a:defRPr>
            </a:lvl3pPr>
            <a:lvl4pPr marL="0" indent="1371600">
              <a:buSzTx/>
              <a:buFontTx/>
              <a:buNone/>
              <a:defRPr sz="2400">
                <a:solidFill>
                  <a:srgbClr val="757575"/>
                </a:solidFill>
              </a:defRPr>
            </a:lvl4pPr>
            <a:lvl5pPr marL="0" indent="1828800">
              <a:buSzTx/>
              <a:buFontTx/>
              <a:buNone/>
              <a:defRPr sz="2400">
                <a:solidFill>
                  <a:srgbClr val="757575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1" name="Body Level One…"/>
          <p:cNvSpPr txBox="1"/>
          <p:nvPr>
            <p:ph type="body"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itle Text"/>
          <p:cNvSpPr txBox="1"/>
          <p:nvPr>
            <p:ph type="title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0" name="Body Level One…"/>
          <p:cNvSpPr txBox="1"/>
          <p:nvPr>
            <p:ph type="body" sz="quarter" idx="1"/>
          </p:nvPr>
        </p:nvSpPr>
        <p:spPr>
          <a:xfrm>
            <a:off x="839787" y="1681163"/>
            <a:ext cx="5157789" cy="823913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b="1" sz="2400"/>
            </a:lvl1pPr>
            <a:lvl2pPr marL="0" indent="457200">
              <a:buSzTx/>
              <a:buFontTx/>
              <a:buNone/>
              <a:defRPr b="1" sz="2400"/>
            </a:lvl2pPr>
            <a:lvl3pPr marL="0" indent="914400">
              <a:buSzTx/>
              <a:buFontTx/>
              <a:buNone/>
              <a:defRPr b="1" sz="2400"/>
            </a:lvl3pPr>
            <a:lvl4pPr marL="0" indent="1371600">
              <a:buSzTx/>
              <a:buFontTx/>
              <a:buNone/>
              <a:defRPr b="1" sz="2400"/>
            </a:lvl4pPr>
            <a:lvl5pPr marL="0" indent="1828800"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1" name="Text Placeholder 4"/>
          <p:cNvSpPr/>
          <p:nvPr>
            <p:ph type="body" sz="quarter" idx="21"/>
          </p:nvPr>
        </p:nvSpPr>
        <p:spPr>
          <a:xfrm>
            <a:off x="6172200" y="1681163"/>
            <a:ext cx="5183188" cy="823913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  <a:defRPr b="1" sz="2400"/>
            </a:pPr>
          </a:p>
        </p:txBody>
      </p:sp>
      <p:sp>
        <p:nvSpPr>
          <p:cNvPr id="5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6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69458" y="6273360"/>
            <a:ext cx="2210281" cy="439029"/>
          </a:xfrm>
          <a:prstGeom prst="rect">
            <a:avLst/>
          </a:prstGeom>
          <a:ln w="12700">
            <a:miter lim="400000"/>
          </a:ln>
        </p:spPr>
      </p:pic>
      <p:sp>
        <p:nvSpPr>
          <p:cNvPr id="6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itle Text"/>
          <p:cNvSpPr txBox="1"/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pPr/>
            <a:r>
              <a:t>Title Text</a:t>
            </a:r>
          </a:p>
        </p:txBody>
      </p:sp>
      <p:sp>
        <p:nvSpPr>
          <p:cNvPr id="76" name="Body Level One…"/>
          <p:cNvSpPr txBox="1"/>
          <p:nvPr>
            <p:ph type="body" sz="half" idx="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57" indent="-261257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7" name="Text Placeholder 3"/>
          <p:cNvSpPr/>
          <p:nvPr>
            <p:ph type="body" sz="quarter" idx="21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600"/>
            </a:pPr>
          </a:p>
        </p:txBody>
      </p:sp>
      <p:sp>
        <p:nvSpPr>
          <p:cNvPr id="7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itle Text"/>
          <p:cNvSpPr txBox="1"/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pPr/>
            <a:r>
              <a:t>Title Text</a:t>
            </a:r>
          </a:p>
        </p:txBody>
      </p:sp>
      <p:sp>
        <p:nvSpPr>
          <p:cNvPr id="86" name="Picture Placeholder 2"/>
          <p:cNvSpPr/>
          <p:nvPr>
            <p:ph type="pic" sz="half" idx="2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87" name="Body Level One…"/>
          <p:cNvSpPr txBox="1"/>
          <p:nvPr>
            <p:ph type="body" sz="quarter" idx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69458" y="6273360"/>
            <a:ext cx="2210281" cy="439029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Title Text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4" name="Body Level One…"/>
          <p:cNvSpPr txBox="1"/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" name="Slide Number"/>
          <p:cNvSpPr txBox="1"/>
          <p:nvPr>
            <p:ph type="sldNum" sz="quarter" idx="2"/>
          </p:nvPr>
        </p:nvSpPr>
        <p:spPr>
          <a:xfrm>
            <a:off x="11080144" y="6404292"/>
            <a:ext cx="273657" cy="26924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757575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Aptos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Aptos"/>
        </a:defRPr>
      </a:lvl2pPr>
      <a:lvl3pPr marL="1234439" marR="0" indent="-320039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Aptos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Aptos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Aptos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Aptos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Aptos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Aptos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Aptos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Picture 7" descr="Picture 7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42912" y="384503"/>
            <a:ext cx="694269" cy="406401"/>
          </a:xfrm>
          <a:prstGeom prst="rect">
            <a:avLst/>
          </a:prstGeom>
          <a:ln w="12700">
            <a:miter lim="400000"/>
          </a:ln>
        </p:spPr>
      </p:pic>
      <p:sp>
        <p:nvSpPr>
          <p:cNvPr id="98" name="TextBox 3"/>
          <p:cNvSpPr txBox="1"/>
          <p:nvPr/>
        </p:nvSpPr>
        <p:spPr>
          <a:xfrm>
            <a:off x="1455513" y="1524536"/>
            <a:ext cx="9280974" cy="33436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b="1" sz="5400">
                <a:solidFill>
                  <a:srgbClr val="0B3041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Week 6 - Workshop</a:t>
            </a:r>
            <a:r>
              <a:rPr>
                <a:solidFill>
                  <a:srgbClr val="000000"/>
                </a:solidFill>
              </a:rPr>
              <a:t>​</a:t>
            </a:r>
            <a:endParaRPr>
              <a:solidFill>
                <a:srgbClr val="000000"/>
              </a:solidFill>
            </a:endParaRPr>
          </a:p>
          <a:p>
            <a:pPr algn="ctr">
              <a:defRPr b="1" sz="5400">
                <a:latin typeface="Calibri"/>
                <a:ea typeface="Calibri"/>
                <a:cs typeface="Calibri"/>
                <a:sym typeface="Calibri"/>
              </a:defRPr>
            </a:pPr>
            <a:r>
              <a:t>​</a:t>
            </a:r>
          </a:p>
          <a:p>
            <a:pPr algn="ctr">
              <a:defRPr b="1" sz="5400">
                <a:solidFill>
                  <a:srgbClr val="0B3041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LINQ, Lamda, </a:t>
            </a:r>
          </a:p>
          <a:p>
            <a:pPr algn="ctr">
              <a:defRPr b="1" sz="5400">
                <a:solidFill>
                  <a:srgbClr val="0B3041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Expression Bodied, Delegates,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extBox 6"/>
          <p:cNvSpPr txBox="1"/>
          <p:nvPr/>
        </p:nvSpPr>
        <p:spPr>
          <a:xfrm>
            <a:off x="171971" y="611201"/>
            <a:ext cx="7609266" cy="574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/>
            </a:lvl1pPr>
          </a:lstStyle>
          <a:p>
            <a:pPr/>
            <a:r>
              <a:t>Task 1: LINQ Basics [ 15 Minutes]</a:t>
            </a:r>
          </a:p>
        </p:txBody>
      </p:sp>
      <p:sp>
        <p:nvSpPr>
          <p:cNvPr id="101" name="Freeform 2"/>
          <p:cNvSpPr/>
          <p:nvPr/>
        </p:nvSpPr>
        <p:spPr>
          <a:xfrm>
            <a:off x="-2117738" y="1257210"/>
            <a:ext cx="6239667" cy="85476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>
              <a:defRPr sz="1200"/>
            </a:pPr>
          </a:p>
        </p:txBody>
      </p:sp>
      <p:sp>
        <p:nvSpPr>
          <p:cNvPr id="102" name="TextBox 2"/>
          <p:cNvSpPr txBox="1"/>
          <p:nvPr/>
        </p:nvSpPr>
        <p:spPr>
          <a:xfrm>
            <a:off x="43481" y="1341465"/>
            <a:ext cx="8385810" cy="48467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342900" indent="-342900">
              <a:buSzPct val="100000"/>
              <a:buAutoNum type="arabicPeriod" startAt="1"/>
              <a:defRPr b="1"/>
            </a:pPr>
            <a:r>
              <a:t>Selecting / Projection</a:t>
            </a:r>
          </a:p>
          <a:p>
            <a:pPr lvl="1" marL="742950" indent="-285750">
              <a:lnSpc>
                <a:spcPct val="150000"/>
              </a:lnSpc>
              <a:buSzPct val="100000"/>
              <a:buFont typeface="Arial"/>
              <a:buChar char="•"/>
            </a:pPr>
            <a:r>
              <a:t>Create a list of integers: </a:t>
            </a:r>
            <a:r>
              <a:rPr>
                <a:latin typeface="Consolas"/>
                <a:ea typeface="Consolas"/>
                <a:cs typeface="Consolas"/>
                <a:sym typeface="Consolas"/>
              </a:rPr>
              <a:t>[1, 2, 3, 4, 5]</a:t>
            </a:r>
            <a:r>
              <a:t>.</a:t>
            </a:r>
          </a:p>
          <a:p>
            <a:pPr lvl="1" marL="742950" indent="-285750">
              <a:lnSpc>
                <a:spcPct val="150000"/>
              </a:lnSpc>
              <a:buSzPct val="100000"/>
              <a:buFont typeface="Arial"/>
              <a:buChar char="•"/>
            </a:pPr>
            <a:r>
              <a:t>Use LINQ to </a:t>
            </a:r>
            <a:r>
              <a:rPr b="1"/>
              <a:t>square each number</a:t>
            </a:r>
            <a:r>
              <a:t> and store it in a new collection.</a:t>
            </a:r>
          </a:p>
          <a:p>
            <a:pPr lvl="1" marL="742950" indent="-285750">
              <a:lnSpc>
                <a:spcPct val="150000"/>
              </a:lnSpc>
              <a:buSzPct val="100000"/>
              <a:buFont typeface="Arial"/>
              <a:buChar char="•"/>
            </a:pPr>
            <a:r>
              <a:t>Print the squared numbers.</a:t>
            </a:r>
          </a:p>
          <a:p>
            <a:pPr marL="342900" indent="-342900">
              <a:lnSpc>
                <a:spcPct val="150000"/>
              </a:lnSpc>
              <a:buSzPct val="100000"/>
              <a:buAutoNum type="arabicPeriod" startAt="1"/>
              <a:defRPr b="1"/>
            </a:pPr>
            <a:r>
              <a:t>Filtering (Where)</a:t>
            </a:r>
          </a:p>
          <a:p>
            <a:pPr lvl="1" marL="800100" indent="-342900">
              <a:lnSpc>
                <a:spcPct val="150000"/>
              </a:lnSpc>
              <a:buSzPct val="100000"/>
              <a:buFont typeface="Arial"/>
              <a:buChar char="•"/>
            </a:pPr>
            <a:r>
              <a:t>A bookstore wants to filter its premium books from their price list. Use LINQ to extract all books priced above Rs. 1000.</a:t>
            </a:r>
          </a:p>
          <a:p>
            <a:pPr lvl="1" marL="800100" indent="-342900">
              <a:lnSpc>
                <a:spcPct val="150000"/>
              </a:lnSpc>
              <a:buSzPct val="100000"/>
              <a:buFont typeface="Arial"/>
              <a:buChar char="•"/>
              <a:defRPr b="1" i="1"/>
            </a:pPr>
            <a:r>
              <a:t>[Hint: You need to have a list of books' object]</a:t>
            </a:r>
          </a:p>
          <a:p>
            <a:pPr marL="342900" indent="-342900">
              <a:lnSpc>
                <a:spcPct val="150000"/>
              </a:lnSpc>
              <a:buSzPct val="100000"/>
              <a:buAutoNum type="arabicPeriod" startAt="1"/>
              <a:defRPr b="1"/>
            </a:pPr>
            <a:r>
              <a:t>Sorting (OrderBy/OrderByDescending)</a:t>
            </a:r>
          </a:p>
          <a:p>
            <a:pPr lvl="1" marL="800100" indent="-342900">
              <a:lnSpc>
                <a:spcPct val="150000"/>
              </a:lnSpc>
              <a:buSzPct val="100000"/>
              <a:buFont typeface="Arial"/>
              <a:buChar char="•"/>
            </a:pPr>
            <a:r>
              <a:t>Islington college is about to award 10 students AAA scholarship award, sort their name alphabetically.</a:t>
            </a:r>
          </a:p>
          <a:p>
            <a:pPr lvl="1" marL="800100" indent="-342900">
              <a:lnSpc>
                <a:spcPct val="150000"/>
              </a:lnSpc>
              <a:buSzPct val="100000"/>
              <a:buFont typeface="Arial"/>
              <a:buChar char="•"/>
              <a:defRPr b="1" i="1"/>
            </a:pPr>
            <a:r>
              <a:t>[Hint: You need to have a list of students' object]</a:t>
            </a:r>
          </a:p>
        </p:txBody>
      </p:sp>
      <p:sp>
        <p:nvSpPr>
          <p:cNvPr id="103" name="Rectangle 5"/>
          <p:cNvSpPr/>
          <p:nvPr/>
        </p:nvSpPr>
        <p:spPr>
          <a:xfrm>
            <a:off x="9005454" y="0"/>
            <a:ext cx="3186546" cy="6858000"/>
          </a:xfrm>
          <a:prstGeom prst="rect">
            <a:avLst/>
          </a:prstGeom>
          <a:solidFill>
            <a:srgbClr val="4C4C4C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 sz="1200">
                <a:solidFill>
                  <a:srgbClr val="FFFFFF"/>
                </a:solidFill>
              </a:defRPr>
            </a:pPr>
          </a:p>
        </p:txBody>
      </p:sp>
      <p:sp>
        <p:nvSpPr>
          <p:cNvPr id="104" name="Rectangle 9"/>
          <p:cNvSpPr/>
          <p:nvPr/>
        </p:nvSpPr>
        <p:spPr>
          <a:xfrm>
            <a:off x="8853267" y="2386267"/>
            <a:ext cx="3278909" cy="240146"/>
          </a:xfrm>
          <a:prstGeom prst="rect">
            <a:avLst/>
          </a:prstGeom>
          <a:solidFill>
            <a:srgbClr val="C00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5" name="TextBox 12"/>
          <p:cNvSpPr txBox="1"/>
          <p:nvPr/>
        </p:nvSpPr>
        <p:spPr>
          <a:xfrm>
            <a:off x="9278619" y="2294545"/>
            <a:ext cx="977167" cy="28663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 marL="285750" indent="-285750">
              <a:lnSpc>
                <a:spcPct val="150000"/>
              </a:lnSpc>
              <a:buSzPct val="100000"/>
              <a:buFont typeface="Helvetica"/>
              <a:buChar char="•"/>
              <a:defRPr sz="1600">
                <a:solidFill>
                  <a:srgbClr val="FFFFFF"/>
                </a:solidFill>
              </a:defRPr>
            </a:pPr>
            <a:r>
              <a:t>Task 1</a:t>
            </a:r>
          </a:p>
          <a:p>
            <a:pPr marL="285750" indent="-285750">
              <a:lnSpc>
                <a:spcPct val="150000"/>
              </a:lnSpc>
              <a:buSzPct val="100000"/>
              <a:buFont typeface="Helvetica"/>
              <a:buChar char="•"/>
              <a:defRPr sz="1600">
                <a:solidFill>
                  <a:srgbClr val="FFFFFF"/>
                </a:solidFill>
              </a:defRPr>
            </a:pPr>
            <a:r>
              <a:t>Task 2</a:t>
            </a:r>
          </a:p>
          <a:p>
            <a:pPr marL="285750" indent="-285750">
              <a:lnSpc>
                <a:spcPct val="150000"/>
              </a:lnSpc>
              <a:buSzPct val="100000"/>
              <a:buFont typeface="Helvetica"/>
              <a:buChar char="•"/>
              <a:defRPr sz="1600">
                <a:solidFill>
                  <a:srgbClr val="FFFFFF"/>
                </a:solidFill>
              </a:defRPr>
            </a:pPr>
            <a:r>
              <a:t>Task 3</a:t>
            </a:r>
          </a:p>
          <a:p>
            <a:pPr marL="285750" indent="-285750">
              <a:lnSpc>
                <a:spcPct val="150000"/>
              </a:lnSpc>
              <a:buSzPct val="100000"/>
              <a:buFont typeface="Helvetica"/>
              <a:buChar char="•"/>
              <a:defRPr sz="1600">
                <a:solidFill>
                  <a:srgbClr val="FFFFFF"/>
                </a:solidFill>
              </a:defRPr>
            </a:pPr>
            <a:r>
              <a:t>Task 4</a:t>
            </a:r>
          </a:p>
          <a:p>
            <a:pPr marL="285750" indent="-285750">
              <a:lnSpc>
                <a:spcPct val="150000"/>
              </a:lnSpc>
              <a:buSzPct val="100000"/>
              <a:buFont typeface="Helvetica"/>
              <a:buChar char="•"/>
              <a:defRPr sz="1600">
                <a:solidFill>
                  <a:srgbClr val="FFFFFF"/>
                </a:solidFill>
              </a:defRPr>
            </a:pPr>
            <a:r>
              <a:t>Task 5</a:t>
            </a:r>
          </a:p>
          <a:p>
            <a:pPr marL="285750" indent="-285750">
              <a:lnSpc>
                <a:spcPct val="150000"/>
              </a:lnSpc>
              <a:buSzPct val="100000"/>
              <a:buFont typeface="Helvetica"/>
              <a:buChar char="•"/>
              <a:defRPr sz="1600">
                <a:solidFill>
                  <a:srgbClr val="FFFFFF"/>
                </a:solidFill>
              </a:defRPr>
            </a:pPr>
            <a:r>
              <a:t>Task 6</a:t>
            </a:r>
          </a:p>
          <a:p>
            <a:pPr marL="285750" indent="-285750">
              <a:lnSpc>
                <a:spcPct val="150000"/>
              </a:lnSpc>
              <a:buSzPct val="100000"/>
              <a:buFont typeface="Helvetica"/>
              <a:buChar char="•"/>
              <a:defRPr sz="1600">
                <a:solidFill>
                  <a:srgbClr val="FFFFFF"/>
                </a:solidFill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TextBox 6"/>
          <p:cNvSpPr txBox="1"/>
          <p:nvPr/>
        </p:nvSpPr>
        <p:spPr>
          <a:xfrm>
            <a:off x="171971" y="611201"/>
            <a:ext cx="7609266" cy="574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/>
            </a:lvl1pPr>
          </a:lstStyle>
          <a:p>
            <a:pPr/>
            <a:r>
              <a:t>Task 2: LINQ Continued.. [ 15 Minutes]</a:t>
            </a:r>
          </a:p>
        </p:txBody>
      </p:sp>
      <p:sp>
        <p:nvSpPr>
          <p:cNvPr id="108" name="Freeform 2"/>
          <p:cNvSpPr/>
          <p:nvPr/>
        </p:nvSpPr>
        <p:spPr>
          <a:xfrm>
            <a:off x="-2117738" y="1257210"/>
            <a:ext cx="6239667" cy="85476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>
              <a:defRPr sz="1200"/>
            </a:pPr>
          </a:p>
        </p:txBody>
      </p:sp>
      <p:sp>
        <p:nvSpPr>
          <p:cNvPr id="109" name="TextBox 2"/>
          <p:cNvSpPr txBox="1"/>
          <p:nvPr/>
        </p:nvSpPr>
        <p:spPr>
          <a:xfrm>
            <a:off x="43481" y="1341465"/>
            <a:ext cx="8385810" cy="540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342900" indent="-342900">
              <a:buSzPct val="100000"/>
              <a:buAutoNum type="arabicPeriod" startAt="1"/>
              <a:defRPr b="1"/>
            </a:pPr>
            <a:r>
              <a:t>Aggregation Operator</a:t>
            </a:r>
          </a:p>
          <a:p>
            <a:pPr lvl="1" marL="800100" indent="-342900">
              <a:buSzPct val="100000"/>
              <a:buFont typeface="Courier New"/>
              <a:buChar char="o"/>
            </a:pPr>
            <a:r>
              <a:t>A supermarket collected daily sales from its cashiers. Now using LINQ calculate: </a:t>
            </a:r>
          </a:p>
          <a:p>
            <a:pPr lvl="2" marL="1257300" indent="-342900">
              <a:buSzPct val="100000"/>
              <a:buChar char="▪"/>
            </a:pPr>
            <a:r>
              <a:t>Total number of cashiers and total sales of the day</a:t>
            </a:r>
          </a:p>
          <a:p>
            <a:pPr lvl="2" marL="1257300" indent="-342900">
              <a:buSzPct val="100000"/>
              <a:buChar char="▪"/>
            </a:pPr>
            <a:r>
              <a:t>Highest, lowest and average sales</a:t>
            </a:r>
          </a:p>
          <a:p>
            <a:pPr lvl="1" marL="800100" indent="-342900">
              <a:buSzPct val="100000"/>
              <a:buFont typeface="Courier New"/>
              <a:buChar char="o"/>
              <a:defRPr b="1"/>
            </a:pPr>
            <a:r>
              <a:t>[Hint: Make a list of CashierSales object ]</a:t>
            </a:r>
          </a:p>
          <a:p>
            <a:pPr marL="342900" indent="-342900">
              <a:buSzPct val="100000"/>
              <a:buAutoNum type="arabicPeriod" startAt="1"/>
              <a:defRPr b="1"/>
            </a:pPr>
            <a:r>
              <a:t>Quantifier Operators (Any/All)</a:t>
            </a:r>
          </a:p>
          <a:p>
            <a:pPr lvl="1" marL="800100" indent="-342900">
              <a:buSzPct val="100000"/>
              <a:buFont typeface="Courier New"/>
              <a:buChar char="o"/>
            </a:pPr>
            <a:r>
              <a:t>You are working in Election Commission office. Now check:</a:t>
            </a:r>
          </a:p>
          <a:p>
            <a:pPr lvl="2" marL="1257300" indent="-342900">
              <a:buSzPct val="100000"/>
              <a:buChar char="▪"/>
            </a:pPr>
            <a:r>
              <a:t>Are there any applicant under 18.</a:t>
            </a:r>
          </a:p>
          <a:p>
            <a:pPr lvl="2" marL="1257300" indent="-342900">
              <a:buSzPct val="100000"/>
              <a:buChar char="▪"/>
            </a:pPr>
            <a:r>
              <a:t>If every applicants are above 16 </a:t>
            </a:r>
          </a:p>
          <a:p>
            <a:pPr lvl="2" marL="1257300" indent="-342900">
              <a:buSzPct val="100000"/>
              <a:buChar char="▪"/>
              <a:defRPr b="1"/>
            </a:pPr>
            <a:r>
              <a:t>[Hint: Make a list of Applicants Object]</a:t>
            </a:r>
          </a:p>
          <a:p>
            <a:pPr marL="342900" indent="-342900">
              <a:buSzPct val="100000"/>
              <a:buAutoNum type="arabicPeriod" startAt="1"/>
              <a:defRPr b="1"/>
            </a:pPr>
            <a:r>
              <a:t>Element Operators (First, Last, FirstOrDefault)</a:t>
            </a:r>
          </a:p>
          <a:p>
            <a:pPr lvl="1" marL="800100" indent="-342900">
              <a:buSzPct val="100000"/>
              <a:buFont typeface="Courier New"/>
              <a:buChar char="o"/>
            </a:pPr>
            <a:r>
              <a:t>A music app stores song duration in seconds. Using LINQ, find the following:</a:t>
            </a:r>
          </a:p>
          <a:p>
            <a:pPr lvl="2" marL="1257300" indent="-342900">
              <a:buSzPct val="100000"/>
              <a:buChar char="▪"/>
            </a:pPr>
            <a:r>
              <a:t>First song &amp; Last song</a:t>
            </a:r>
          </a:p>
          <a:p>
            <a:pPr lvl="2" marL="1257300" indent="-342900">
              <a:buSzPct val="100000"/>
              <a:buChar char="▪"/>
            </a:pPr>
            <a:r>
              <a:t>First song with duration above 4 minutes</a:t>
            </a:r>
          </a:p>
          <a:p>
            <a:pPr lvl="2" marL="1257300" indent="-342900">
              <a:buSzPct val="100000"/>
              <a:buChar char="▪"/>
            </a:pPr>
            <a:r>
              <a:t>A safe result for the first song longer than </a:t>
            </a:r>
            <a:r>
              <a:rPr b="1"/>
              <a:t>10 minutes</a:t>
            </a:r>
            <a:r>
              <a:t> (use FirstOrDefault)</a:t>
            </a:r>
          </a:p>
          <a:p>
            <a:pPr lvl="2" marL="1257300" indent="-342900">
              <a:buSzPct val="100000"/>
              <a:buChar char="▪"/>
              <a:defRPr b="1"/>
            </a:pPr>
            <a:r>
              <a:t>[Hint: Use a list of music object with required fields]</a:t>
            </a:r>
          </a:p>
        </p:txBody>
      </p:sp>
      <p:sp>
        <p:nvSpPr>
          <p:cNvPr id="110" name="Rectangle 14"/>
          <p:cNvSpPr/>
          <p:nvPr/>
        </p:nvSpPr>
        <p:spPr>
          <a:xfrm>
            <a:off x="9005454" y="0"/>
            <a:ext cx="3186546" cy="6858000"/>
          </a:xfrm>
          <a:prstGeom prst="rect">
            <a:avLst/>
          </a:prstGeom>
          <a:solidFill>
            <a:srgbClr val="4C4C4C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 sz="1200">
                <a:solidFill>
                  <a:srgbClr val="FFFFFF"/>
                </a:solidFill>
              </a:defRPr>
            </a:pPr>
          </a:p>
        </p:txBody>
      </p:sp>
      <p:sp>
        <p:nvSpPr>
          <p:cNvPr id="111" name="Rectangle 16"/>
          <p:cNvSpPr/>
          <p:nvPr/>
        </p:nvSpPr>
        <p:spPr>
          <a:xfrm>
            <a:off x="8959273" y="2713994"/>
            <a:ext cx="3278909" cy="240146"/>
          </a:xfrm>
          <a:prstGeom prst="rect">
            <a:avLst/>
          </a:prstGeom>
          <a:solidFill>
            <a:srgbClr val="C00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2" name="TextBox 18"/>
          <p:cNvSpPr txBox="1"/>
          <p:nvPr/>
        </p:nvSpPr>
        <p:spPr>
          <a:xfrm>
            <a:off x="9278619" y="2294545"/>
            <a:ext cx="977167" cy="28663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 marL="285750" indent="-285750">
              <a:lnSpc>
                <a:spcPct val="150000"/>
              </a:lnSpc>
              <a:buSzPct val="100000"/>
              <a:buFont typeface="Helvetica"/>
              <a:buChar char="•"/>
              <a:defRPr sz="1600">
                <a:solidFill>
                  <a:srgbClr val="FFFFFF"/>
                </a:solidFill>
              </a:defRPr>
            </a:pPr>
            <a:r>
              <a:t>Task 1</a:t>
            </a:r>
          </a:p>
          <a:p>
            <a:pPr marL="285750" indent="-285750">
              <a:lnSpc>
                <a:spcPct val="150000"/>
              </a:lnSpc>
              <a:buSzPct val="100000"/>
              <a:buFont typeface="Helvetica"/>
              <a:buChar char="•"/>
              <a:defRPr sz="1600">
                <a:solidFill>
                  <a:srgbClr val="FFFFFF"/>
                </a:solidFill>
              </a:defRPr>
            </a:pPr>
            <a:r>
              <a:t>Task 2</a:t>
            </a:r>
          </a:p>
          <a:p>
            <a:pPr marL="285750" indent="-285750">
              <a:lnSpc>
                <a:spcPct val="150000"/>
              </a:lnSpc>
              <a:buSzPct val="100000"/>
              <a:buFont typeface="Helvetica"/>
              <a:buChar char="•"/>
              <a:defRPr sz="1600">
                <a:solidFill>
                  <a:srgbClr val="FFFFFF"/>
                </a:solidFill>
              </a:defRPr>
            </a:pPr>
            <a:r>
              <a:t>Task 3</a:t>
            </a:r>
          </a:p>
          <a:p>
            <a:pPr marL="285750" indent="-285750">
              <a:lnSpc>
                <a:spcPct val="150000"/>
              </a:lnSpc>
              <a:buSzPct val="100000"/>
              <a:buFont typeface="Helvetica"/>
              <a:buChar char="•"/>
              <a:defRPr sz="1600">
                <a:solidFill>
                  <a:srgbClr val="FFFFFF"/>
                </a:solidFill>
              </a:defRPr>
            </a:pPr>
            <a:r>
              <a:t>Task 4</a:t>
            </a:r>
          </a:p>
          <a:p>
            <a:pPr marL="285750" indent="-285750">
              <a:lnSpc>
                <a:spcPct val="150000"/>
              </a:lnSpc>
              <a:buSzPct val="100000"/>
              <a:buFont typeface="Helvetica"/>
              <a:buChar char="•"/>
              <a:defRPr sz="1600">
                <a:solidFill>
                  <a:srgbClr val="FFFFFF"/>
                </a:solidFill>
              </a:defRPr>
            </a:pPr>
            <a:r>
              <a:t>Task 5</a:t>
            </a:r>
          </a:p>
          <a:p>
            <a:pPr marL="285750" indent="-285750">
              <a:lnSpc>
                <a:spcPct val="150000"/>
              </a:lnSpc>
              <a:buSzPct val="100000"/>
              <a:buFont typeface="Helvetica"/>
              <a:buChar char="•"/>
              <a:defRPr sz="1600">
                <a:solidFill>
                  <a:srgbClr val="FFFFFF"/>
                </a:solidFill>
              </a:defRPr>
            </a:pPr>
            <a:r>
              <a:t>Task 6</a:t>
            </a:r>
          </a:p>
          <a:p>
            <a:pPr marL="285750" indent="-285750">
              <a:lnSpc>
                <a:spcPct val="150000"/>
              </a:lnSpc>
              <a:buSzPct val="100000"/>
              <a:buFont typeface="Helvetica"/>
              <a:buChar char="•"/>
              <a:defRPr sz="1600">
                <a:solidFill>
                  <a:srgbClr val="FFFFFF"/>
                </a:solidFill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Rectangle 4"/>
          <p:cNvSpPr/>
          <p:nvPr/>
        </p:nvSpPr>
        <p:spPr>
          <a:xfrm>
            <a:off x="9005454" y="0"/>
            <a:ext cx="3186546" cy="6858000"/>
          </a:xfrm>
          <a:prstGeom prst="rect">
            <a:avLst/>
          </a:prstGeom>
          <a:solidFill>
            <a:srgbClr val="4C4C4C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 sz="1200">
                <a:solidFill>
                  <a:srgbClr val="FFFFFF"/>
                </a:solidFill>
              </a:defRPr>
            </a:pPr>
          </a:p>
        </p:txBody>
      </p:sp>
      <p:sp>
        <p:nvSpPr>
          <p:cNvPr id="115" name="TextBox 6"/>
          <p:cNvSpPr txBox="1"/>
          <p:nvPr/>
        </p:nvSpPr>
        <p:spPr>
          <a:xfrm>
            <a:off x="171971" y="611201"/>
            <a:ext cx="7609266" cy="574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/>
            </a:lvl1pPr>
          </a:lstStyle>
          <a:p>
            <a:pPr/>
            <a:r>
              <a:t>Task 3: LINQ Continued.. [ 20 Minutes]</a:t>
            </a:r>
          </a:p>
        </p:txBody>
      </p:sp>
      <p:sp>
        <p:nvSpPr>
          <p:cNvPr id="116" name="Rectangle 11"/>
          <p:cNvSpPr/>
          <p:nvPr/>
        </p:nvSpPr>
        <p:spPr>
          <a:xfrm>
            <a:off x="8959273" y="3096041"/>
            <a:ext cx="3278909" cy="240146"/>
          </a:xfrm>
          <a:prstGeom prst="rect">
            <a:avLst/>
          </a:prstGeom>
          <a:solidFill>
            <a:srgbClr val="C00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7" name="Freeform 2"/>
          <p:cNvSpPr/>
          <p:nvPr/>
        </p:nvSpPr>
        <p:spPr>
          <a:xfrm>
            <a:off x="-2117738" y="1257210"/>
            <a:ext cx="6239667" cy="85476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>
              <a:defRPr sz="1200"/>
            </a:pPr>
          </a:p>
        </p:txBody>
      </p:sp>
      <p:sp>
        <p:nvSpPr>
          <p:cNvPr id="118" name="TextBox 2"/>
          <p:cNvSpPr txBox="1"/>
          <p:nvPr/>
        </p:nvSpPr>
        <p:spPr>
          <a:xfrm>
            <a:off x="43481" y="1341464"/>
            <a:ext cx="8385810" cy="5819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342900" indent="-342900">
              <a:lnSpc>
                <a:spcPct val="150000"/>
              </a:lnSpc>
              <a:buSzPct val="100000"/>
              <a:buAutoNum type="arabicPeriod" startAt="1"/>
            </a:pPr>
            <a:r>
              <a:t>A travel company stores a</a:t>
            </a:r>
            <a:r>
              <a:rPr b="1"/>
              <a:t> list of tour bookings</a:t>
            </a:r>
            <a:r>
              <a:t>. Each </a:t>
            </a:r>
            <a:r>
              <a:rPr b="1"/>
              <a:t>booking contains</a:t>
            </a:r>
            <a:r>
              <a:t> the following information:</a:t>
            </a:r>
          </a:p>
          <a:p>
            <a:pPr lvl="1" marL="800100" indent="-342900">
              <a:lnSpc>
                <a:spcPct val="150000"/>
              </a:lnSpc>
              <a:buSzPct val="100000"/>
              <a:buFont typeface="Helvetica"/>
              <a:buChar char="o"/>
            </a:pPr>
            <a:r>
              <a:t>CustomerName</a:t>
            </a:r>
          </a:p>
          <a:p>
            <a:pPr lvl="1" marL="800100" indent="-342900">
              <a:lnSpc>
                <a:spcPct val="150000"/>
              </a:lnSpc>
              <a:buSzPct val="100000"/>
              <a:buFont typeface="Helvetica"/>
              <a:buChar char="o"/>
            </a:pPr>
            <a:r>
              <a:t>Destination</a:t>
            </a:r>
          </a:p>
          <a:p>
            <a:pPr lvl="1" marL="800100" indent="-342900">
              <a:lnSpc>
                <a:spcPct val="150000"/>
              </a:lnSpc>
              <a:buSzPct val="100000"/>
              <a:buFont typeface="Helvetica"/>
              <a:buChar char="o"/>
            </a:pPr>
            <a:r>
              <a:t>Price</a:t>
            </a:r>
          </a:p>
          <a:p>
            <a:pPr lvl="1" marL="800100" indent="-342900">
              <a:lnSpc>
                <a:spcPct val="150000"/>
              </a:lnSpc>
              <a:buSzPct val="100000"/>
              <a:buFont typeface="Helvetica"/>
              <a:buChar char="o"/>
            </a:pPr>
            <a:r>
              <a:t>DurationInDay</a:t>
            </a:r>
          </a:p>
          <a:p>
            <a:pPr lvl="1" marL="800100" indent="-342900">
              <a:lnSpc>
                <a:spcPct val="150000"/>
              </a:lnSpc>
              <a:buSzPct val="100000"/>
              <a:buFont typeface="Helvetica"/>
              <a:buChar char="o"/>
            </a:pPr>
            <a:r>
              <a:t>IsInternational</a:t>
            </a:r>
          </a:p>
          <a:p>
            <a:pPr marL="342900" indent="-342900">
              <a:lnSpc>
                <a:spcPct val="150000"/>
              </a:lnSpc>
              <a:buSzPct val="100000"/>
              <a:buAutoNum type="arabicPeriod" startAt="1"/>
              <a:defRPr b="1"/>
            </a:pPr>
            <a:r>
              <a:t>Scenario:</a:t>
            </a:r>
            <a:r>
              <a:rPr b="0"/>
              <a:t> The company wants to prepare a summary </a:t>
            </a:r>
            <a:r>
              <a:t>report for market analysis</a:t>
            </a:r>
            <a:r>
              <a:rPr b="0"/>
              <a:t>. Using LINQ, perform following the following:</a:t>
            </a:r>
            <a:endParaRPr b="0"/>
          </a:p>
          <a:p>
            <a:pPr lvl="1" marL="800100" indent="-342900">
              <a:lnSpc>
                <a:spcPct val="150000"/>
              </a:lnSpc>
              <a:buSzPct val="100000"/>
              <a:buFont typeface="Helvetica"/>
              <a:buChar char="o"/>
              <a:defRPr b="1"/>
            </a:pPr>
            <a:r>
              <a:t>Filter:</a:t>
            </a:r>
          </a:p>
          <a:p>
            <a:pPr lvl="2" marL="1257300" indent="-342900">
              <a:lnSpc>
                <a:spcPct val="150000"/>
              </a:lnSpc>
              <a:buSzPct val="100000"/>
              <a:buFont typeface="Helvetica"/>
              <a:buChar char="§"/>
            </a:pPr>
            <a:r>
              <a:t>Tours above Rs. 10,000.</a:t>
            </a:r>
          </a:p>
          <a:p>
            <a:pPr lvl="2" marL="1257300" indent="-342900">
              <a:lnSpc>
                <a:spcPct val="150000"/>
              </a:lnSpc>
              <a:buSzPct val="100000"/>
              <a:buFont typeface="Helvetica"/>
              <a:buChar char="§"/>
            </a:pPr>
            <a:r>
              <a:t>Tour duration more than 4 days.</a:t>
            </a:r>
          </a:p>
          <a:p>
            <a:pPr lvl="1" marL="800100" indent="-342900">
              <a:lnSpc>
                <a:spcPct val="150000"/>
              </a:lnSpc>
              <a:buSzPct val="100000"/>
              <a:buFont typeface="Helvetica"/>
              <a:buChar char="o"/>
              <a:defRPr b="1"/>
            </a:pPr>
          </a:p>
        </p:txBody>
      </p:sp>
      <p:sp>
        <p:nvSpPr>
          <p:cNvPr id="119" name="TextBox 8"/>
          <p:cNvSpPr txBox="1"/>
          <p:nvPr/>
        </p:nvSpPr>
        <p:spPr>
          <a:xfrm>
            <a:off x="9278619" y="2294545"/>
            <a:ext cx="977167" cy="28663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 marL="285750" indent="-285750">
              <a:lnSpc>
                <a:spcPct val="150000"/>
              </a:lnSpc>
              <a:buSzPct val="100000"/>
              <a:buFont typeface="Helvetica"/>
              <a:buChar char="•"/>
              <a:defRPr sz="1600">
                <a:solidFill>
                  <a:srgbClr val="FFFFFF"/>
                </a:solidFill>
              </a:defRPr>
            </a:pPr>
            <a:r>
              <a:t>Task 1</a:t>
            </a:r>
          </a:p>
          <a:p>
            <a:pPr marL="285750" indent="-285750">
              <a:lnSpc>
                <a:spcPct val="150000"/>
              </a:lnSpc>
              <a:buSzPct val="100000"/>
              <a:buFont typeface="Helvetica"/>
              <a:buChar char="•"/>
              <a:defRPr sz="1600">
                <a:solidFill>
                  <a:srgbClr val="FFFFFF"/>
                </a:solidFill>
              </a:defRPr>
            </a:pPr>
            <a:r>
              <a:t>Task 2</a:t>
            </a:r>
          </a:p>
          <a:p>
            <a:pPr marL="285750" indent="-285750">
              <a:lnSpc>
                <a:spcPct val="150000"/>
              </a:lnSpc>
              <a:buSzPct val="100000"/>
              <a:buFont typeface="Helvetica"/>
              <a:buChar char="•"/>
              <a:defRPr sz="1600">
                <a:solidFill>
                  <a:srgbClr val="FFFFFF"/>
                </a:solidFill>
              </a:defRPr>
            </a:pPr>
            <a:r>
              <a:t>Task 3</a:t>
            </a:r>
          </a:p>
          <a:p>
            <a:pPr marL="285750" indent="-285750">
              <a:lnSpc>
                <a:spcPct val="150000"/>
              </a:lnSpc>
              <a:buSzPct val="100000"/>
              <a:buFont typeface="Helvetica"/>
              <a:buChar char="•"/>
              <a:defRPr sz="1600">
                <a:solidFill>
                  <a:srgbClr val="FFFFFF"/>
                </a:solidFill>
              </a:defRPr>
            </a:pPr>
            <a:r>
              <a:t>Task 4</a:t>
            </a:r>
          </a:p>
          <a:p>
            <a:pPr marL="285750" indent="-285750">
              <a:lnSpc>
                <a:spcPct val="150000"/>
              </a:lnSpc>
              <a:buSzPct val="100000"/>
              <a:buFont typeface="Helvetica"/>
              <a:buChar char="•"/>
              <a:defRPr sz="1600">
                <a:solidFill>
                  <a:srgbClr val="FFFFFF"/>
                </a:solidFill>
              </a:defRPr>
            </a:pPr>
            <a:r>
              <a:t>Task 5</a:t>
            </a:r>
          </a:p>
          <a:p>
            <a:pPr marL="285750" indent="-285750">
              <a:lnSpc>
                <a:spcPct val="150000"/>
              </a:lnSpc>
              <a:buSzPct val="100000"/>
              <a:buFont typeface="Helvetica"/>
              <a:buChar char="•"/>
              <a:defRPr sz="1600">
                <a:solidFill>
                  <a:srgbClr val="FFFFFF"/>
                </a:solidFill>
              </a:defRPr>
            </a:pPr>
            <a:r>
              <a:t>Task 6</a:t>
            </a:r>
          </a:p>
          <a:p>
            <a:pPr marL="285750" indent="-285750">
              <a:lnSpc>
                <a:spcPct val="150000"/>
              </a:lnSpc>
              <a:buSzPct val="100000"/>
              <a:buFont typeface="Helvetica"/>
              <a:buChar char="•"/>
              <a:defRPr sz="1600">
                <a:solidFill>
                  <a:srgbClr val="FFFFFF"/>
                </a:solidFill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TextBox 6"/>
          <p:cNvSpPr txBox="1"/>
          <p:nvPr/>
        </p:nvSpPr>
        <p:spPr>
          <a:xfrm>
            <a:off x="171971" y="611201"/>
            <a:ext cx="7609266" cy="574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/>
            </a:lvl1pPr>
          </a:lstStyle>
          <a:p>
            <a:pPr/>
            <a:r>
              <a:t>Task 3: LINQ Continued.. [ 20 Minutes]</a:t>
            </a:r>
          </a:p>
        </p:txBody>
      </p:sp>
      <p:sp>
        <p:nvSpPr>
          <p:cNvPr id="122" name="Freeform 2"/>
          <p:cNvSpPr/>
          <p:nvPr/>
        </p:nvSpPr>
        <p:spPr>
          <a:xfrm>
            <a:off x="-2117738" y="1257210"/>
            <a:ext cx="6239667" cy="85476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>
              <a:defRPr sz="1200"/>
            </a:pPr>
          </a:p>
        </p:txBody>
      </p:sp>
      <p:sp>
        <p:nvSpPr>
          <p:cNvPr id="123" name="TextBox 2"/>
          <p:cNvSpPr txBox="1"/>
          <p:nvPr/>
        </p:nvSpPr>
        <p:spPr>
          <a:xfrm>
            <a:off x="43481" y="1341465"/>
            <a:ext cx="8385810" cy="288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lvl="1" marL="800100" indent="-342900">
              <a:lnSpc>
                <a:spcPct val="150000"/>
              </a:lnSpc>
              <a:buSzPct val="100000"/>
              <a:buFont typeface="Helvetica"/>
              <a:buChar char="o"/>
              <a:defRPr b="1"/>
            </a:pPr>
            <a:r>
              <a:t>Transform (Project) the filtered list into a new list which will contain:</a:t>
            </a:r>
          </a:p>
          <a:p>
            <a:pPr lvl="2" marL="1257300" indent="-342900">
              <a:lnSpc>
                <a:spcPct val="150000"/>
              </a:lnSpc>
              <a:buSzPct val="100000"/>
              <a:buFont typeface="Helvetica"/>
              <a:buChar char="§"/>
            </a:pPr>
            <a:r>
              <a:t>CustomName</a:t>
            </a:r>
          </a:p>
          <a:p>
            <a:pPr lvl="2" marL="1257300" indent="-342900">
              <a:lnSpc>
                <a:spcPct val="150000"/>
              </a:lnSpc>
              <a:buSzPct val="100000"/>
              <a:buFont typeface="Helvetica"/>
              <a:buChar char="§"/>
            </a:pPr>
            <a:r>
              <a:t>Destination</a:t>
            </a:r>
          </a:p>
          <a:p>
            <a:pPr lvl="2" marL="1257300" indent="-342900">
              <a:lnSpc>
                <a:spcPct val="150000"/>
              </a:lnSpc>
              <a:buSzPct val="100000"/>
              <a:buFont typeface="Helvetica"/>
              <a:buChar char="§"/>
            </a:pPr>
            <a:r>
              <a:t>Category : "International" or "Domestic" based on IsInternational</a:t>
            </a:r>
          </a:p>
          <a:p>
            <a:pPr marL="285750" indent="-285750">
              <a:lnSpc>
                <a:spcPct val="150000"/>
              </a:lnSpc>
              <a:buSzPct val="100000"/>
              <a:buFont typeface="Arial"/>
              <a:buChar char="•"/>
            </a:pPr>
            <a:r>
              <a:t>Now </a:t>
            </a:r>
            <a:r>
              <a:rPr b="1"/>
              <a:t>sort </a:t>
            </a:r>
            <a:r>
              <a:t>the result  based on </a:t>
            </a:r>
            <a:r>
              <a:rPr b="1"/>
              <a:t>Category </a:t>
            </a:r>
            <a:r>
              <a:t>(Display domestic category first, then International). </a:t>
            </a:r>
            <a:r>
              <a:rPr b="1"/>
              <a:t>Then sort</a:t>
            </a:r>
            <a:r>
              <a:t> the list based on </a:t>
            </a:r>
            <a:r>
              <a:rPr b="1"/>
              <a:t>price </a:t>
            </a:r>
            <a:r>
              <a:t>as well.</a:t>
            </a:r>
          </a:p>
          <a:p>
            <a:pPr marL="285750" indent="-285750">
              <a:lnSpc>
                <a:spcPct val="150000"/>
              </a:lnSpc>
              <a:buSzPct val="100000"/>
              <a:buFont typeface="Arial"/>
              <a:buChar char="•"/>
            </a:pPr>
            <a:r>
              <a:t>Now </a:t>
            </a:r>
            <a:r>
              <a:rPr b="1"/>
              <a:t>display </a:t>
            </a:r>
            <a:r>
              <a:t>each element of the list in a </a:t>
            </a:r>
            <a:r>
              <a:rPr b="1"/>
              <a:t>clean format</a:t>
            </a:r>
            <a:r>
              <a:t>.</a:t>
            </a:r>
          </a:p>
        </p:txBody>
      </p:sp>
      <p:sp>
        <p:nvSpPr>
          <p:cNvPr id="124" name="Rectangle 5"/>
          <p:cNvSpPr/>
          <p:nvPr/>
        </p:nvSpPr>
        <p:spPr>
          <a:xfrm>
            <a:off x="9005454" y="0"/>
            <a:ext cx="3186546" cy="6858000"/>
          </a:xfrm>
          <a:prstGeom prst="rect">
            <a:avLst/>
          </a:prstGeom>
          <a:solidFill>
            <a:srgbClr val="4C4C4C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 sz="1200">
                <a:solidFill>
                  <a:srgbClr val="FFFFFF"/>
                </a:solidFill>
              </a:defRPr>
            </a:pPr>
          </a:p>
        </p:txBody>
      </p:sp>
      <p:sp>
        <p:nvSpPr>
          <p:cNvPr id="125" name="Rectangle 9"/>
          <p:cNvSpPr/>
          <p:nvPr/>
        </p:nvSpPr>
        <p:spPr>
          <a:xfrm>
            <a:off x="8959273" y="3107115"/>
            <a:ext cx="3278909" cy="240146"/>
          </a:xfrm>
          <a:prstGeom prst="rect">
            <a:avLst/>
          </a:prstGeom>
          <a:solidFill>
            <a:srgbClr val="C00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6" name="TextBox 12"/>
          <p:cNvSpPr txBox="1"/>
          <p:nvPr/>
        </p:nvSpPr>
        <p:spPr>
          <a:xfrm>
            <a:off x="9278619" y="2294545"/>
            <a:ext cx="977167" cy="28663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 marL="285750" indent="-285750">
              <a:lnSpc>
                <a:spcPct val="150000"/>
              </a:lnSpc>
              <a:buSzPct val="100000"/>
              <a:buFont typeface="Helvetica"/>
              <a:buChar char="•"/>
              <a:defRPr sz="1600">
                <a:solidFill>
                  <a:srgbClr val="FFFFFF"/>
                </a:solidFill>
              </a:defRPr>
            </a:pPr>
            <a:r>
              <a:t>Task 1</a:t>
            </a:r>
          </a:p>
          <a:p>
            <a:pPr marL="285750" indent="-285750">
              <a:lnSpc>
                <a:spcPct val="150000"/>
              </a:lnSpc>
              <a:buSzPct val="100000"/>
              <a:buFont typeface="Helvetica"/>
              <a:buChar char="•"/>
              <a:defRPr sz="1600">
                <a:solidFill>
                  <a:srgbClr val="FFFFFF"/>
                </a:solidFill>
              </a:defRPr>
            </a:pPr>
            <a:r>
              <a:t>Task 2</a:t>
            </a:r>
          </a:p>
          <a:p>
            <a:pPr marL="285750" indent="-285750">
              <a:lnSpc>
                <a:spcPct val="150000"/>
              </a:lnSpc>
              <a:buSzPct val="100000"/>
              <a:buFont typeface="Helvetica"/>
              <a:buChar char="•"/>
              <a:defRPr sz="1600">
                <a:solidFill>
                  <a:srgbClr val="FFFFFF"/>
                </a:solidFill>
              </a:defRPr>
            </a:pPr>
            <a:r>
              <a:t>Task 3</a:t>
            </a:r>
          </a:p>
          <a:p>
            <a:pPr marL="285750" indent="-285750">
              <a:lnSpc>
                <a:spcPct val="150000"/>
              </a:lnSpc>
              <a:buSzPct val="100000"/>
              <a:buFont typeface="Helvetica"/>
              <a:buChar char="•"/>
              <a:defRPr sz="1600">
                <a:solidFill>
                  <a:srgbClr val="FFFFFF"/>
                </a:solidFill>
              </a:defRPr>
            </a:pPr>
            <a:r>
              <a:t>Task 4</a:t>
            </a:r>
          </a:p>
          <a:p>
            <a:pPr marL="285750" indent="-285750">
              <a:lnSpc>
                <a:spcPct val="150000"/>
              </a:lnSpc>
              <a:buSzPct val="100000"/>
              <a:buFont typeface="Helvetica"/>
              <a:buChar char="•"/>
              <a:defRPr sz="1600">
                <a:solidFill>
                  <a:srgbClr val="FFFFFF"/>
                </a:solidFill>
              </a:defRPr>
            </a:pPr>
            <a:r>
              <a:t>Task 5</a:t>
            </a:r>
          </a:p>
          <a:p>
            <a:pPr marL="285750" indent="-285750">
              <a:lnSpc>
                <a:spcPct val="150000"/>
              </a:lnSpc>
              <a:buSzPct val="100000"/>
              <a:buFont typeface="Helvetica"/>
              <a:buChar char="•"/>
              <a:defRPr sz="1600">
                <a:solidFill>
                  <a:srgbClr val="FFFFFF"/>
                </a:solidFill>
              </a:defRPr>
            </a:pPr>
            <a:r>
              <a:t>Task 6</a:t>
            </a:r>
          </a:p>
          <a:p>
            <a:pPr marL="285750" indent="-285750">
              <a:lnSpc>
                <a:spcPct val="150000"/>
              </a:lnSpc>
              <a:buSzPct val="100000"/>
              <a:buFont typeface="Helvetica"/>
              <a:buChar char="•"/>
              <a:defRPr sz="1600">
                <a:solidFill>
                  <a:srgbClr val="FFFFFF"/>
                </a:solidFill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Freeform 2"/>
          <p:cNvSpPr/>
          <p:nvPr/>
        </p:nvSpPr>
        <p:spPr>
          <a:xfrm>
            <a:off x="-2117738" y="1257210"/>
            <a:ext cx="6239667" cy="85476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>
              <a:defRPr sz="1200"/>
            </a:pPr>
          </a:p>
        </p:txBody>
      </p:sp>
      <p:sp>
        <p:nvSpPr>
          <p:cNvPr id="129" name="TextBox 6"/>
          <p:cNvSpPr txBox="1"/>
          <p:nvPr/>
        </p:nvSpPr>
        <p:spPr>
          <a:xfrm>
            <a:off x="66453" y="683022"/>
            <a:ext cx="9649778" cy="574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3200"/>
            </a:lvl1pPr>
          </a:lstStyle>
          <a:p>
            <a:pPr/>
            <a:r>
              <a:t>Task 4: Expression Bodied Members [10 Minutes]</a:t>
            </a:r>
          </a:p>
        </p:txBody>
      </p:sp>
      <p:sp>
        <p:nvSpPr>
          <p:cNvPr id="130" name="TextBox 2"/>
          <p:cNvSpPr txBox="1"/>
          <p:nvPr/>
        </p:nvSpPr>
        <p:spPr>
          <a:xfrm>
            <a:off x="239684" y="1294589"/>
            <a:ext cx="8609475" cy="1209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342900" indent="-342900">
              <a:lnSpc>
                <a:spcPct val="150000"/>
              </a:lnSpc>
              <a:buSzPct val="100000"/>
              <a:buAutoNum type="arabicPeriod" startAt="1"/>
            </a:pPr>
            <a:r>
              <a:t>The class below </a:t>
            </a:r>
            <a:r>
              <a:rPr b="1"/>
              <a:t>calculates the area of a rectangle</a:t>
            </a:r>
            <a:r>
              <a:t>. Convert </a:t>
            </a:r>
            <a:r>
              <a:rPr b="1"/>
              <a:t>both properties and methods</a:t>
            </a:r>
            <a:r>
              <a:t> into expression-bodied members.  Also</a:t>
            </a:r>
            <a:r>
              <a:rPr b="1"/>
              <a:t> add a method</a:t>
            </a:r>
            <a:r>
              <a:t> to calculate </a:t>
            </a:r>
            <a:r>
              <a:rPr b="1"/>
              <a:t>its perimeter</a:t>
            </a:r>
            <a:r>
              <a:t>.</a:t>
            </a:r>
          </a:p>
        </p:txBody>
      </p:sp>
      <p:pic>
        <p:nvPicPr>
          <p:cNvPr id="131" name="Picture 3" descr="Picture 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91063" y="2679488"/>
            <a:ext cx="3732364" cy="3583739"/>
          </a:xfrm>
          <a:prstGeom prst="rect">
            <a:avLst/>
          </a:prstGeom>
          <a:ln w="12700">
            <a:miter lim="400000"/>
          </a:ln>
        </p:spPr>
      </p:pic>
      <p:pic>
        <p:nvPicPr>
          <p:cNvPr id="132" name="Picture 7" descr="Picture 7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4533900" y="3249912"/>
            <a:ext cx="3972465" cy="1939687"/>
          </a:xfrm>
          <a:prstGeom prst="rect">
            <a:avLst/>
          </a:prstGeom>
          <a:ln w="12700">
            <a:miter lim="400000"/>
          </a:ln>
        </p:spPr>
      </p:pic>
      <p:sp>
        <p:nvSpPr>
          <p:cNvPr id="133" name="Rectangle 9"/>
          <p:cNvSpPr/>
          <p:nvPr/>
        </p:nvSpPr>
        <p:spPr>
          <a:xfrm>
            <a:off x="9005454" y="0"/>
            <a:ext cx="3186546" cy="6858000"/>
          </a:xfrm>
          <a:prstGeom prst="rect">
            <a:avLst/>
          </a:prstGeom>
          <a:solidFill>
            <a:srgbClr val="4C4C4C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 sz="1200">
                <a:solidFill>
                  <a:srgbClr val="FFFFFF"/>
                </a:solidFill>
              </a:defRPr>
            </a:pPr>
          </a:p>
        </p:txBody>
      </p:sp>
      <p:sp>
        <p:nvSpPr>
          <p:cNvPr id="134" name="Rectangle 12"/>
          <p:cNvSpPr/>
          <p:nvPr/>
        </p:nvSpPr>
        <p:spPr>
          <a:xfrm>
            <a:off x="8916837" y="3442718"/>
            <a:ext cx="3278909" cy="240146"/>
          </a:xfrm>
          <a:prstGeom prst="rect">
            <a:avLst/>
          </a:prstGeom>
          <a:solidFill>
            <a:srgbClr val="C00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5" name="TextBox 14"/>
          <p:cNvSpPr txBox="1"/>
          <p:nvPr/>
        </p:nvSpPr>
        <p:spPr>
          <a:xfrm>
            <a:off x="9278619" y="2294545"/>
            <a:ext cx="977167" cy="28663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 marL="285750" indent="-285750">
              <a:lnSpc>
                <a:spcPct val="150000"/>
              </a:lnSpc>
              <a:buSzPct val="100000"/>
              <a:buFont typeface="Helvetica"/>
              <a:buChar char="•"/>
              <a:defRPr sz="1600">
                <a:solidFill>
                  <a:srgbClr val="FFFFFF"/>
                </a:solidFill>
              </a:defRPr>
            </a:pPr>
            <a:r>
              <a:t>Task 1</a:t>
            </a:r>
          </a:p>
          <a:p>
            <a:pPr marL="285750" indent="-285750">
              <a:lnSpc>
                <a:spcPct val="150000"/>
              </a:lnSpc>
              <a:buSzPct val="100000"/>
              <a:buFont typeface="Helvetica"/>
              <a:buChar char="•"/>
              <a:defRPr sz="1600">
                <a:solidFill>
                  <a:srgbClr val="FFFFFF"/>
                </a:solidFill>
              </a:defRPr>
            </a:pPr>
            <a:r>
              <a:t>Task 2</a:t>
            </a:r>
          </a:p>
          <a:p>
            <a:pPr marL="285750" indent="-285750">
              <a:lnSpc>
                <a:spcPct val="150000"/>
              </a:lnSpc>
              <a:buSzPct val="100000"/>
              <a:buFont typeface="Helvetica"/>
              <a:buChar char="•"/>
              <a:defRPr sz="1600">
                <a:solidFill>
                  <a:srgbClr val="FFFFFF"/>
                </a:solidFill>
              </a:defRPr>
            </a:pPr>
            <a:r>
              <a:t>Task 3</a:t>
            </a:r>
          </a:p>
          <a:p>
            <a:pPr marL="285750" indent="-285750">
              <a:lnSpc>
                <a:spcPct val="150000"/>
              </a:lnSpc>
              <a:buSzPct val="100000"/>
              <a:buFont typeface="Helvetica"/>
              <a:buChar char="•"/>
              <a:defRPr sz="1600">
                <a:solidFill>
                  <a:srgbClr val="FFFFFF"/>
                </a:solidFill>
              </a:defRPr>
            </a:pPr>
            <a:r>
              <a:t>Task 4</a:t>
            </a:r>
          </a:p>
          <a:p>
            <a:pPr marL="285750" indent="-285750">
              <a:lnSpc>
                <a:spcPct val="150000"/>
              </a:lnSpc>
              <a:buSzPct val="100000"/>
              <a:buFont typeface="Helvetica"/>
              <a:buChar char="•"/>
              <a:defRPr sz="1600">
                <a:solidFill>
                  <a:srgbClr val="FFFFFF"/>
                </a:solidFill>
              </a:defRPr>
            </a:pPr>
            <a:r>
              <a:t>Task 5</a:t>
            </a:r>
          </a:p>
          <a:p>
            <a:pPr marL="285750" indent="-285750">
              <a:lnSpc>
                <a:spcPct val="150000"/>
              </a:lnSpc>
              <a:buSzPct val="100000"/>
              <a:buFont typeface="Helvetica"/>
              <a:buChar char="•"/>
              <a:defRPr sz="1600">
                <a:solidFill>
                  <a:srgbClr val="FFFFFF"/>
                </a:solidFill>
              </a:defRPr>
            </a:pPr>
            <a:r>
              <a:t>Task 6</a:t>
            </a:r>
          </a:p>
          <a:p>
            <a:pPr marL="285750" indent="-285750">
              <a:lnSpc>
                <a:spcPct val="150000"/>
              </a:lnSpc>
              <a:buSzPct val="100000"/>
              <a:buFont typeface="Helvetica"/>
              <a:buChar char="•"/>
              <a:defRPr sz="1600">
                <a:solidFill>
                  <a:srgbClr val="FFFFFF"/>
                </a:solidFill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TextBox 6"/>
          <p:cNvSpPr txBox="1"/>
          <p:nvPr/>
        </p:nvSpPr>
        <p:spPr>
          <a:xfrm>
            <a:off x="402007" y="611201"/>
            <a:ext cx="7391163" cy="574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3200"/>
            </a:lvl1pPr>
          </a:lstStyle>
          <a:p>
            <a:pPr/>
            <a:r>
              <a:t>Task 5: Custom Delegate [20 Minutes]</a:t>
            </a:r>
          </a:p>
        </p:txBody>
      </p:sp>
      <p:sp>
        <p:nvSpPr>
          <p:cNvPr id="138" name="Freeform 2"/>
          <p:cNvSpPr/>
          <p:nvPr/>
        </p:nvSpPr>
        <p:spPr>
          <a:xfrm>
            <a:off x="-2117738" y="1257210"/>
            <a:ext cx="6239667" cy="85476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>
              <a:defRPr sz="1200"/>
            </a:pPr>
          </a:p>
        </p:txBody>
      </p:sp>
      <p:sp>
        <p:nvSpPr>
          <p:cNvPr id="139" name="TextBox 2"/>
          <p:cNvSpPr txBox="1"/>
          <p:nvPr/>
        </p:nvSpPr>
        <p:spPr>
          <a:xfrm>
            <a:off x="236765" y="1336519"/>
            <a:ext cx="8447101" cy="45618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342900" indent="-342900">
              <a:lnSpc>
                <a:spcPct val="150000"/>
              </a:lnSpc>
              <a:buSzPct val="100000"/>
              <a:buAutoNum type="arabicPeriod" startAt="1"/>
            </a:pPr>
            <a:r>
              <a:t>Create a delegate named </a:t>
            </a:r>
            <a:r>
              <a:rPr b="1"/>
              <a:t>Calculate</a:t>
            </a:r>
            <a:r>
              <a:t> that </a:t>
            </a:r>
            <a:r>
              <a:rPr b="1"/>
              <a:t>accepts two integers and returns</a:t>
            </a:r>
            <a:r>
              <a:t> an integer.</a:t>
            </a:r>
          </a:p>
          <a:p>
            <a:pPr lvl="1" marL="800100" indent="-342900">
              <a:lnSpc>
                <a:spcPct val="150000"/>
              </a:lnSpc>
              <a:buSzPct val="100000"/>
              <a:buFont typeface="Arial"/>
              <a:buChar char="•"/>
            </a:pPr>
            <a:r>
              <a:t>Write two methods: </a:t>
            </a:r>
            <a:r>
              <a:rPr b="1"/>
              <a:t>Add()</a:t>
            </a:r>
            <a:r>
              <a:t> and </a:t>
            </a:r>
            <a:r>
              <a:rPr b="1"/>
              <a:t>Subtract().</a:t>
            </a:r>
          </a:p>
          <a:p>
            <a:pPr lvl="1" marL="800100" indent="-342900">
              <a:lnSpc>
                <a:spcPct val="150000"/>
              </a:lnSpc>
              <a:buSzPct val="100000"/>
              <a:buFont typeface="Arial"/>
              <a:buChar char="•"/>
            </a:pPr>
            <a:r>
              <a:t>Use the delegate to call both methods.</a:t>
            </a:r>
          </a:p>
          <a:p>
            <a:pPr lvl="1" marL="800100" indent="-342900">
              <a:lnSpc>
                <a:spcPct val="150000"/>
              </a:lnSpc>
              <a:buSzPct val="100000"/>
              <a:buFont typeface="Arial"/>
              <a:buChar char="•"/>
            </a:pPr>
          </a:p>
          <a:p>
            <a:pPr marL="342900" indent="-342900">
              <a:lnSpc>
                <a:spcPct val="150000"/>
              </a:lnSpc>
              <a:buSzPct val="100000"/>
              <a:buAutoNum type="arabicPeriod" startAt="1"/>
            </a:pPr>
            <a:r>
              <a:t>Define a delegate named </a:t>
            </a:r>
            <a:r>
              <a:rPr b="1"/>
              <a:t>DiscountStrategy</a:t>
            </a:r>
            <a:r>
              <a:t> that takes a</a:t>
            </a:r>
            <a:r>
              <a:rPr b="1"/>
              <a:t> price (double)</a:t>
            </a:r>
            <a:r>
              <a:t> and </a:t>
            </a:r>
            <a:r>
              <a:rPr b="1"/>
              <a:t>returns the discounted price</a:t>
            </a:r>
            <a:r>
              <a:t>.</a:t>
            </a:r>
          </a:p>
          <a:p>
            <a:pPr lvl="1" marL="685800" indent="-228600">
              <a:lnSpc>
                <a:spcPct val="150000"/>
              </a:lnSpc>
              <a:buSzPct val="100000"/>
              <a:buFont typeface="Arial"/>
              <a:buChar char="•"/>
            </a:pPr>
            <a:r>
              <a:t>Create </a:t>
            </a:r>
            <a:r>
              <a:rPr b="1"/>
              <a:t>three discount methods</a:t>
            </a:r>
            <a:r>
              <a:t>:</a:t>
            </a:r>
          </a:p>
          <a:p>
            <a:pPr lvl="2" marL="685800" indent="-228600">
              <a:lnSpc>
                <a:spcPct val="150000"/>
              </a:lnSpc>
              <a:buSzPct val="100000"/>
              <a:buFont typeface="Arial"/>
              <a:buChar char="•"/>
            </a:pPr>
            <a:r>
              <a:t>FestivalDiscount → 20% off</a:t>
            </a:r>
          </a:p>
          <a:p>
            <a:pPr lvl="2" marL="685800" indent="-228600">
              <a:lnSpc>
                <a:spcPct val="150000"/>
              </a:lnSpc>
              <a:buSzPct val="100000"/>
              <a:buFont typeface="Arial"/>
              <a:buChar char="•"/>
            </a:pPr>
            <a:r>
              <a:t>SeasonalDiscount → 10% off</a:t>
            </a:r>
          </a:p>
          <a:p>
            <a:pPr lvl="2" marL="685800" indent="-228600">
              <a:lnSpc>
                <a:spcPct val="150000"/>
              </a:lnSpc>
              <a:buSzPct val="100000"/>
              <a:buFont typeface="Arial"/>
              <a:buChar char="•"/>
            </a:pPr>
            <a:r>
              <a:t>NoDiscount → returns price as it is</a:t>
            </a:r>
          </a:p>
        </p:txBody>
      </p:sp>
      <p:sp>
        <p:nvSpPr>
          <p:cNvPr id="140" name="Rectangle 7"/>
          <p:cNvSpPr/>
          <p:nvPr/>
        </p:nvSpPr>
        <p:spPr>
          <a:xfrm>
            <a:off x="9005454" y="0"/>
            <a:ext cx="3186546" cy="6858000"/>
          </a:xfrm>
          <a:prstGeom prst="rect">
            <a:avLst/>
          </a:prstGeom>
          <a:solidFill>
            <a:srgbClr val="4C4C4C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 sz="1200">
                <a:solidFill>
                  <a:srgbClr val="FFFFFF"/>
                </a:solidFill>
              </a:defRPr>
            </a:pPr>
          </a:p>
        </p:txBody>
      </p:sp>
      <p:sp>
        <p:nvSpPr>
          <p:cNvPr id="141" name="Rectangle 9"/>
          <p:cNvSpPr/>
          <p:nvPr/>
        </p:nvSpPr>
        <p:spPr>
          <a:xfrm>
            <a:off x="8875414" y="3790498"/>
            <a:ext cx="3278909" cy="240146"/>
          </a:xfrm>
          <a:prstGeom prst="rect">
            <a:avLst/>
          </a:prstGeom>
          <a:solidFill>
            <a:srgbClr val="C00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2" name="TextBox 12"/>
          <p:cNvSpPr txBox="1"/>
          <p:nvPr/>
        </p:nvSpPr>
        <p:spPr>
          <a:xfrm>
            <a:off x="9278619" y="2294545"/>
            <a:ext cx="977167" cy="28663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 marL="285750" indent="-285750">
              <a:lnSpc>
                <a:spcPct val="150000"/>
              </a:lnSpc>
              <a:buSzPct val="100000"/>
              <a:buFont typeface="Helvetica"/>
              <a:buChar char="•"/>
              <a:defRPr sz="1600">
                <a:solidFill>
                  <a:srgbClr val="FFFFFF"/>
                </a:solidFill>
              </a:defRPr>
            </a:pPr>
            <a:r>
              <a:t>Task 1</a:t>
            </a:r>
          </a:p>
          <a:p>
            <a:pPr marL="285750" indent="-285750">
              <a:lnSpc>
                <a:spcPct val="150000"/>
              </a:lnSpc>
              <a:buSzPct val="100000"/>
              <a:buFont typeface="Helvetica"/>
              <a:buChar char="•"/>
              <a:defRPr sz="1600">
                <a:solidFill>
                  <a:srgbClr val="FFFFFF"/>
                </a:solidFill>
              </a:defRPr>
            </a:pPr>
            <a:r>
              <a:t>Task 2</a:t>
            </a:r>
          </a:p>
          <a:p>
            <a:pPr marL="285750" indent="-285750">
              <a:lnSpc>
                <a:spcPct val="150000"/>
              </a:lnSpc>
              <a:buSzPct val="100000"/>
              <a:buFont typeface="Helvetica"/>
              <a:buChar char="•"/>
              <a:defRPr sz="1600">
                <a:solidFill>
                  <a:srgbClr val="FFFFFF"/>
                </a:solidFill>
              </a:defRPr>
            </a:pPr>
            <a:r>
              <a:t>Task 3</a:t>
            </a:r>
          </a:p>
          <a:p>
            <a:pPr marL="285750" indent="-285750">
              <a:lnSpc>
                <a:spcPct val="150000"/>
              </a:lnSpc>
              <a:buSzPct val="100000"/>
              <a:buFont typeface="Helvetica"/>
              <a:buChar char="•"/>
              <a:defRPr sz="1600">
                <a:solidFill>
                  <a:srgbClr val="FFFFFF"/>
                </a:solidFill>
              </a:defRPr>
            </a:pPr>
            <a:r>
              <a:t>Task 4</a:t>
            </a:r>
          </a:p>
          <a:p>
            <a:pPr marL="285750" indent="-285750">
              <a:lnSpc>
                <a:spcPct val="150000"/>
              </a:lnSpc>
              <a:buSzPct val="100000"/>
              <a:buFont typeface="Helvetica"/>
              <a:buChar char="•"/>
              <a:defRPr sz="1600">
                <a:solidFill>
                  <a:srgbClr val="FFFFFF"/>
                </a:solidFill>
              </a:defRPr>
            </a:pPr>
            <a:r>
              <a:t>Task 5</a:t>
            </a:r>
          </a:p>
          <a:p>
            <a:pPr marL="285750" indent="-285750">
              <a:lnSpc>
                <a:spcPct val="150000"/>
              </a:lnSpc>
              <a:buSzPct val="100000"/>
              <a:buFont typeface="Helvetica"/>
              <a:buChar char="•"/>
              <a:defRPr sz="1600">
                <a:solidFill>
                  <a:srgbClr val="FFFFFF"/>
                </a:solidFill>
              </a:defRPr>
            </a:pPr>
            <a:r>
              <a:t>Task 6</a:t>
            </a:r>
          </a:p>
          <a:p>
            <a:pPr marL="285750" indent="-285750">
              <a:lnSpc>
                <a:spcPct val="150000"/>
              </a:lnSpc>
              <a:buSzPct val="100000"/>
              <a:buFont typeface="Helvetica"/>
              <a:buChar char="•"/>
              <a:defRPr sz="1600">
                <a:solidFill>
                  <a:srgbClr val="FFFFFF"/>
                </a:solidFill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TextBox 6"/>
          <p:cNvSpPr txBox="1"/>
          <p:nvPr/>
        </p:nvSpPr>
        <p:spPr>
          <a:xfrm>
            <a:off x="402007" y="611201"/>
            <a:ext cx="7730095" cy="574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3200"/>
            </a:lvl1pPr>
          </a:lstStyle>
          <a:p>
            <a:pPr/>
            <a:r>
              <a:t>Task 5.1: Custom Delegate [20 Minutes]</a:t>
            </a:r>
          </a:p>
        </p:txBody>
      </p:sp>
      <p:sp>
        <p:nvSpPr>
          <p:cNvPr id="145" name="Freeform 2"/>
          <p:cNvSpPr/>
          <p:nvPr/>
        </p:nvSpPr>
        <p:spPr>
          <a:xfrm>
            <a:off x="-2117738" y="1257210"/>
            <a:ext cx="6239667" cy="85476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>
              <a:defRPr sz="1200"/>
            </a:pPr>
          </a:p>
        </p:txBody>
      </p:sp>
      <p:sp>
        <p:nvSpPr>
          <p:cNvPr id="146" name="TextBox 2"/>
          <p:cNvSpPr txBox="1"/>
          <p:nvPr/>
        </p:nvSpPr>
        <p:spPr>
          <a:xfrm>
            <a:off x="236765" y="1336519"/>
            <a:ext cx="8447101" cy="45618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ct val="150000"/>
              </a:lnSpc>
            </a:pPr>
            <a:r>
              <a:t>2.1 Create a method named </a:t>
            </a:r>
            <a:r>
              <a:rPr b="1"/>
              <a:t>CalculateFinalPrice(double originalPrice,   DiscountStrategy strategy)</a:t>
            </a:r>
            <a:r>
              <a:t> that:</a:t>
            </a:r>
          </a:p>
          <a:p>
            <a:pPr lvl="1" marL="742950" indent="-285750">
              <a:lnSpc>
                <a:spcPct val="150000"/>
              </a:lnSpc>
              <a:buSzPct val="100000"/>
              <a:buFont typeface="Arial"/>
              <a:buChar char="•"/>
            </a:pPr>
            <a:r>
              <a:t>Accepts the original price</a:t>
            </a:r>
          </a:p>
          <a:p>
            <a:pPr lvl="1" marL="742950" indent="-285750">
              <a:lnSpc>
                <a:spcPct val="150000"/>
              </a:lnSpc>
              <a:buSzPct val="100000"/>
              <a:buFont typeface="Arial"/>
              <a:buChar char="•"/>
            </a:pPr>
            <a:r>
              <a:t>Accepts a </a:t>
            </a:r>
            <a:r>
              <a:rPr b="1"/>
              <a:t>delegate</a:t>
            </a:r>
            <a:r>
              <a:t> as the discount strategy</a:t>
            </a:r>
          </a:p>
          <a:p>
            <a:pPr lvl="1" marL="742950" indent="-285750">
              <a:lnSpc>
                <a:spcPct val="150000"/>
              </a:lnSpc>
              <a:buSzPct val="100000"/>
              <a:buFont typeface="Arial"/>
              <a:buChar char="•"/>
            </a:pPr>
            <a:r>
              <a:t>Returns the </a:t>
            </a:r>
            <a:r>
              <a:rPr b="1"/>
              <a:t>final payable amount</a:t>
            </a:r>
          </a:p>
          <a:p>
            <a:pPr lvl="1" marL="742950" indent="-285750">
              <a:lnSpc>
                <a:spcPct val="150000"/>
              </a:lnSpc>
              <a:buSzPct val="100000"/>
              <a:buFont typeface="Arial"/>
              <a:buChar char="•"/>
              <a:defRPr b="1"/>
            </a:pPr>
          </a:p>
          <a:p>
            <a:pPr>
              <a:lnSpc>
                <a:spcPct val="150000"/>
              </a:lnSpc>
              <a:defRPr b="1"/>
            </a:pPr>
            <a:r>
              <a:t>2.2 In Program.cs , </a:t>
            </a:r>
            <a:r>
              <a:rPr b="0"/>
              <a:t>call </a:t>
            </a:r>
            <a:r>
              <a:t>CalculateFinalPrice </a:t>
            </a:r>
            <a:r>
              <a:rPr b="0"/>
              <a:t>method by passing original  price and all discount strategy method one by one. </a:t>
            </a:r>
            <a:endParaRPr b="0"/>
          </a:p>
          <a:p>
            <a:pPr>
              <a:lnSpc>
                <a:spcPct val="150000"/>
              </a:lnSpc>
              <a:defRPr b="1"/>
            </a:pPr>
            <a:r>
              <a:t>2.3 Again</a:t>
            </a:r>
            <a:r>
              <a:rPr b="0"/>
              <a:t>, call </a:t>
            </a:r>
            <a:r>
              <a:t>CalculateFinalPrice </a:t>
            </a:r>
            <a:r>
              <a:rPr b="0"/>
              <a:t>method by passing an original value and a </a:t>
            </a:r>
            <a:r>
              <a:t>Lamda expression </a:t>
            </a:r>
            <a:r>
              <a:rPr b="0"/>
              <a:t>where 30% discount is granted. </a:t>
            </a:r>
            <a:endParaRPr b="0"/>
          </a:p>
        </p:txBody>
      </p:sp>
      <p:sp>
        <p:nvSpPr>
          <p:cNvPr id="147" name="Rectangle 7"/>
          <p:cNvSpPr/>
          <p:nvPr/>
        </p:nvSpPr>
        <p:spPr>
          <a:xfrm>
            <a:off x="9005454" y="0"/>
            <a:ext cx="3186546" cy="6858000"/>
          </a:xfrm>
          <a:prstGeom prst="rect">
            <a:avLst/>
          </a:prstGeom>
          <a:solidFill>
            <a:srgbClr val="4C4C4C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 sz="1200">
                <a:solidFill>
                  <a:srgbClr val="FFFFFF"/>
                </a:solidFill>
              </a:defRPr>
            </a:pPr>
          </a:p>
        </p:txBody>
      </p:sp>
      <p:sp>
        <p:nvSpPr>
          <p:cNvPr id="148" name="Rectangle 9"/>
          <p:cNvSpPr/>
          <p:nvPr/>
        </p:nvSpPr>
        <p:spPr>
          <a:xfrm>
            <a:off x="8959273" y="3789451"/>
            <a:ext cx="3278909" cy="240146"/>
          </a:xfrm>
          <a:prstGeom prst="rect">
            <a:avLst/>
          </a:prstGeom>
          <a:solidFill>
            <a:srgbClr val="C00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9" name="TextBox 12"/>
          <p:cNvSpPr txBox="1"/>
          <p:nvPr/>
        </p:nvSpPr>
        <p:spPr>
          <a:xfrm>
            <a:off x="9278619" y="2294545"/>
            <a:ext cx="977167" cy="28663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 marL="285750" indent="-285750">
              <a:lnSpc>
                <a:spcPct val="150000"/>
              </a:lnSpc>
              <a:buSzPct val="100000"/>
              <a:buFont typeface="Helvetica"/>
              <a:buChar char="•"/>
              <a:defRPr sz="1600">
                <a:solidFill>
                  <a:srgbClr val="FFFFFF"/>
                </a:solidFill>
              </a:defRPr>
            </a:pPr>
            <a:r>
              <a:t>Task 1</a:t>
            </a:r>
          </a:p>
          <a:p>
            <a:pPr marL="285750" indent="-285750">
              <a:lnSpc>
                <a:spcPct val="150000"/>
              </a:lnSpc>
              <a:buSzPct val="100000"/>
              <a:buFont typeface="Helvetica"/>
              <a:buChar char="•"/>
              <a:defRPr sz="1600">
                <a:solidFill>
                  <a:srgbClr val="FFFFFF"/>
                </a:solidFill>
              </a:defRPr>
            </a:pPr>
            <a:r>
              <a:t>Task 2</a:t>
            </a:r>
          </a:p>
          <a:p>
            <a:pPr marL="285750" indent="-285750">
              <a:lnSpc>
                <a:spcPct val="150000"/>
              </a:lnSpc>
              <a:buSzPct val="100000"/>
              <a:buFont typeface="Helvetica"/>
              <a:buChar char="•"/>
              <a:defRPr sz="1600">
                <a:solidFill>
                  <a:srgbClr val="FFFFFF"/>
                </a:solidFill>
              </a:defRPr>
            </a:pPr>
            <a:r>
              <a:t>Task 3</a:t>
            </a:r>
          </a:p>
          <a:p>
            <a:pPr marL="285750" indent="-285750">
              <a:lnSpc>
                <a:spcPct val="150000"/>
              </a:lnSpc>
              <a:buSzPct val="100000"/>
              <a:buFont typeface="Helvetica"/>
              <a:buChar char="•"/>
              <a:defRPr sz="1600">
                <a:solidFill>
                  <a:srgbClr val="FFFFFF"/>
                </a:solidFill>
              </a:defRPr>
            </a:pPr>
            <a:r>
              <a:t>Task 4</a:t>
            </a:r>
          </a:p>
          <a:p>
            <a:pPr marL="285750" indent="-285750">
              <a:lnSpc>
                <a:spcPct val="150000"/>
              </a:lnSpc>
              <a:buSzPct val="100000"/>
              <a:buFont typeface="Helvetica"/>
              <a:buChar char="•"/>
              <a:defRPr sz="1600">
                <a:solidFill>
                  <a:srgbClr val="FFFFFF"/>
                </a:solidFill>
              </a:defRPr>
            </a:pPr>
            <a:r>
              <a:t>Task 5</a:t>
            </a:r>
          </a:p>
          <a:p>
            <a:pPr marL="285750" indent="-285750">
              <a:lnSpc>
                <a:spcPct val="150000"/>
              </a:lnSpc>
              <a:buSzPct val="100000"/>
              <a:buFont typeface="Helvetica"/>
              <a:buChar char="•"/>
              <a:defRPr sz="1600">
                <a:solidFill>
                  <a:srgbClr val="FFFFFF"/>
                </a:solidFill>
              </a:defRPr>
            </a:pPr>
            <a:r>
              <a:t>Task 6</a:t>
            </a:r>
          </a:p>
          <a:p>
            <a:pPr marL="285750" indent="-285750">
              <a:lnSpc>
                <a:spcPct val="150000"/>
              </a:lnSpc>
              <a:buSzPct val="100000"/>
              <a:buFont typeface="Helvetica"/>
              <a:buChar char="•"/>
              <a:defRPr sz="1600">
                <a:solidFill>
                  <a:srgbClr val="FFFFFF"/>
                </a:solidFill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TextBox 6"/>
          <p:cNvSpPr txBox="1"/>
          <p:nvPr/>
        </p:nvSpPr>
        <p:spPr>
          <a:xfrm>
            <a:off x="402007" y="611201"/>
            <a:ext cx="7390766" cy="574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3200"/>
            </a:lvl1pPr>
          </a:lstStyle>
          <a:p>
            <a:pPr/>
            <a:r>
              <a:t>Task 6: Built-in Delegate [ 10 Minutes]</a:t>
            </a:r>
          </a:p>
        </p:txBody>
      </p:sp>
      <p:sp>
        <p:nvSpPr>
          <p:cNvPr id="152" name="Freeform 2"/>
          <p:cNvSpPr/>
          <p:nvPr/>
        </p:nvSpPr>
        <p:spPr>
          <a:xfrm>
            <a:off x="-2117738" y="1257210"/>
            <a:ext cx="6239667" cy="85476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>
              <a:defRPr sz="1200"/>
            </a:pPr>
          </a:p>
        </p:txBody>
      </p:sp>
      <p:sp>
        <p:nvSpPr>
          <p:cNvPr id="153" name="TextBox 2"/>
          <p:cNvSpPr txBox="1"/>
          <p:nvPr/>
        </p:nvSpPr>
        <p:spPr>
          <a:xfrm>
            <a:off x="132882" y="1535167"/>
            <a:ext cx="8313923" cy="288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342900" indent="-342900">
              <a:lnSpc>
                <a:spcPct val="150000"/>
              </a:lnSpc>
              <a:buSzPct val="100000"/>
              <a:buAutoNum type="arabicPeriod" startAt="1"/>
            </a:pPr>
            <a:r>
              <a:t>Create a method:</a:t>
            </a:r>
          </a:p>
          <a:p>
            <a:pPr lvl="1" marL="742950" indent="-285750">
              <a:lnSpc>
                <a:spcPct val="150000"/>
              </a:lnSpc>
              <a:buSzPct val="100000"/>
              <a:buFont typeface="Arial"/>
              <a:buChar char="•"/>
              <a:defRPr b="1"/>
            </a:pPr>
            <a:r>
              <a:t>void ProcessNumbers(int[] numbers, Func&lt;int, bool&gt; condition)</a:t>
            </a:r>
          </a:p>
          <a:p>
            <a:pPr marL="285750" indent="-285750">
              <a:lnSpc>
                <a:spcPct val="150000"/>
              </a:lnSpc>
              <a:buSzPct val="100000"/>
              <a:buAutoNum type="arabicPeriod" startAt="1"/>
            </a:pPr>
            <a:r>
              <a:t>Use it to print:</a:t>
            </a:r>
          </a:p>
          <a:p>
            <a:pPr lvl="1" marL="742950" indent="-285750">
              <a:lnSpc>
                <a:spcPct val="150000"/>
              </a:lnSpc>
              <a:buSzPct val="100000"/>
              <a:buFont typeface="Arial"/>
              <a:buChar char="•"/>
            </a:pPr>
            <a:r>
              <a:t>Only even numbers</a:t>
            </a:r>
          </a:p>
          <a:p>
            <a:pPr lvl="1" marL="742950" indent="-285750">
              <a:lnSpc>
                <a:spcPct val="150000"/>
              </a:lnSpc>
              <a:buSzPct val="100000"/>
              <a:buFont typeface="Arial"/>
              <a:buChar char="•"/>
            </a:pPr>
            <a:r>
              <a:t>Only numbers greater than 10</a:t>
            </a:r>
            <a:br/>
            <a:r>
              <a:t> </a:t>
            </a:r>
            <a:r>
              <a:rPr i="1"/>
              <a:t>(Pass a Func delegate for the condition.)</a:t>
            </a:r>
          </a:p>
        </p:txBody>
      </p:sp>
      <p:sp>
        <p:nvSpPr>
          <p:cNvPr id="154" name="Rectangle 5"/>
          <p:cNvSpPr/>
          <p:nvPr/>
        </p:nvSpPr>
        <p:spPr>
          <a:xfrm>
            <a:off x="9005454" y="0"/>
            <a:ext cx="3186546" cy="6858000"/>
          </a:xfrm>
          <a:prstGeom prst="rect">
            <a:avLst/>
          </a:prstGeom>
          <a:solidFill>
            <a:srgbClr val="4C4C4C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 sz="1200">
                <a:solidFill>
                  <a:srgbClr val="FFFFFF"/>
                </a:solidFill>
              </a:defRPr>
            </a:pPr>
          </a:p>
        </p:txBody>
      </p:sp>
      <p:sp>
        <p:nvSpPr>
          <p:cNvPr id="155" name="Rectangle 9"/>
          <p:cNvSpPr/>
          <p:nvPr/>
        </p:nvSpPr>
        <p:spPr>
          <a:xfrm>
            <a:off x="8959273" y="4195740"/>
            <a:ext cx="3278909" cy="240146"/>
          </a:xfrm>
          <a:prstGeom prst="rect">
            <a:avLst/>
          </a:prstGeom>
          <a:solidFill>
            <a:srgbClr val="C00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6" name="TextBox 12"/>
          <p:cNvSpPr txBox="1"/>
          <p:nvPr/>
        </p:nvSpPr>
        <p:spPr>
          <a:xfrm>
            <a:off x="9278619" y="2294545"/>
            <a:ext cx="977167" cy="28663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 marL="285750" indent="-285750">
              <a:lnSpc>
                <a:spcPct val="150000"/>
              </a:lnSpc>
              <a:buSzPct val="100000"/>
              <a:buFont typeface="Helvetica"/>
              <a:buChar char="•"/>
              <a:defRPr sz="1600">
                <a:solidFill>
                  <a:srgbClr val="FFFFFF"/>
                </a:solidFill>
              </a:defRPr>
            </a:pPr>
            <a:r>
              <a:t>Task 1</a:t>
            </a:r>
          </a:p>
          <a:p>
            <a:pPr marL="285750" indent="-285750">
              <a:lnSpc>
                <a:spcPct val="150000"/>
              </a:lnSpc>
              <a:buSzPct val="100000"/>
              <a:buFont typeface="Helvetica"/>
              <a:buChar char="•"/>
              <a:defRPr sz="1600">
                <a:solidFill>
                  <a:srgbClr val="FFFFFF"/>
                </a:solidFill>
              </a:defRPr>
            </a:pPr>
            <a:r>
              <a:t>Task 2</a:t>
            </a:r>
          </a:p>
          <a:p>
            <a:pPr marL="285750" indent="-285750">
              <a:lnSpc>
                <a:spcPct val="150000"/>
              </a:lnSpc>
              <a:buSzPct val="100000"/>
              <a:buFont typeface="Helvetica"/>
              <a:buChar char="•"/>
              <a:defRPr sz="1600">
                <a:solidFill>
                  <a:srgbClr val="FFFFFF"/>
                </a:solidFill>
              </a:defRPr>
            </a:pPr>
            <a:r>
              <a:t>Task 3</a:t>
            </a:r>
          </a:p>
          <a:p>
            <a:pPr marL="285750" indent="-285750">
              <a:lnSpc>
                <a:spcPct val="150000"/>
              </a:lnSpc>
              <a:buSzPct val="100000"/>
              <a:buFont typeface="Helvetica"/>
              <a:buChar char="•"/>
              <a:defRPr sz="1600">
                <a:solidFill>
                  <a:srgbClr val="FFFFFF"/>
                </a:solidFill>
              </a:defRPr>
            </a:pPr>
            <a:r>
              <a:t>Task 4</a:t>
            </a:r>
          </a:p>
          <a:p>
            <a:pPr marL="285750" indent="-285750">
              <a:lnSpc>
                <a:spcPct val="150000"/>
              </a:lnSpc>
              <a:buSzPct val="100000"/>
              <a:buFont typeface="Helvetica"/>
              <a:buChar char="•"/>
              <a:defRPr sz="1600">
                <a:solidFill>
                  <a:srgbClr val="FFFFFF"/>
                </a:solidFill>
              </a:defRPr>
            </a:pPr>
            <a:r>
              <a:t>Task 5</a:t>
            </a:r>
          </a:p>
          <a:p>
            <a:pPr marL="285750" indent="-285750">
              <a:lnSpc>
                <a:spcPct val="150000"/>
              </a:lnSpc>
              <a:buSzPct val="100000"/>
              <a:buFont typeface="Helvetica"/>
              <a:buChar char="•"/>
              <a:defRPr sz="1600">
                <a:solidFill>
                  <a:srgbClr val="FFFFFF"/>
                </a:solidFill>
              </a:defRPr>
            </a:pPr>
            <a:r>
              <a:t>Task 6</a:t>
            </a:r>
          </a:p>
          <a:p>
            <a:pPr marL="285750" indent="-285750">
              <a:lnSpc>
                <a:spcPct val="150000"/>
              </a:lnSpc>
              <a:buSzPct val="100000"/>
              <a:buFont typeface="Helvetica"/>
              <a:buChar char="•"/>
              <a:defRPr sz="1600">
                <a:solidFill>
                  <a:srgbClr val="FFFFFF"/>
                </a:solidFill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Aptos"/>
        <a:ea typeface="Aptos"/>
        <a:cs typeface="Aptos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905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pto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905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pto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Aptos"/>
        <a:ea typeface="Aptos"/>
        <a:cs typeface="Aptos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905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pto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905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pto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